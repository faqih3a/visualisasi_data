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7"/>
  </p:notesMasterIdLst>
  <p:sldIdLst>
    <p:sldId id="256" r:id="rId3"/>
    <p:sldId id="289" r:id="rId4"/>
    <p:sldId id="298" r:id="rId5"/>
    <p:sldId id="345" r:id="rId6"/>
    <p:sldId id="348" r:id="rId7"/>
    <p:sldId id="281" r:id="rId8"/>
    <p:sldId id="282" r:id="rId9"/>
    <p:sldId id="284" r:id="rId10"/>
    <p:sldId id="285" r:id="rId11"/>
    <p:sldId id="287" r:id="rId12"/>
    <p:sldId id="293" r:id="rId13"/>
    <p:sldId id="347" r:id="rId14"/>
    <p:sldId id="288" r:id="rId15"/>
    <p:sldId id="344" r:id="rId16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FC7AE-76C1-49E5-BEA3-670B96D7389A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FECB02-12D8-44A9-8279-15CB2E635A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38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ECB02-12D8-44A9-8279-15CB2E635AB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055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ECB02-12D8-44A9-8279-15CB2E635AB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314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id-ID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id-ID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id-ID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id-ID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id-ID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d-ID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/>
          <p:cNvSpPr/>
          <p:nvPr/>
        </p:nvSpPr>
        <p:spPr>
          <a:xfrm>
            <a:off x="204840" y="6321960"/>
            <a:ext cx="11764080" cy="36468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id-ID" sz="1800" b="0" strike="noStrike" spc="-1">
                <a:solidFill>
                  <a:srgbClr val="FFFFFF"/>
                </a:solidFill>
                <a:latin typeface="Calibri"/>
              </a:rPr>
              <a:t>Program Studi Sistem Informasi &amp; Teknik Informatika – STT Terpadu Nurul Fikri</a:t>
            </a:r>
            <a:endParaRPr lang="id-ID" sz="18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id-ID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id-ID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DAE192ED-6DE5-4568-9801-D8BD82FAE12D}" type="datetime">
              <a:rPr lang="id-ID" sz="1200" b="0" strike="noStrike" spc="-1">
                <a:solidFill>
                  <a:srgbClr val="8B8B8B"/>
                </a:solidFill>
                <a:latin typeface="Calibri"/>
              </a:rPr>
              <a:t>23/09/2025</a:t>
            </a:fld>
            <a:endParaRPr lang="id-ID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id-ID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D1AC6C3F-911A-4835-ADC3-7BB96679C211}" type="slidenum">
              <a:rPr lang="id-ID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id-ID" sz="1200" b="0" strike="noStrike" spc="-1"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d-ID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d-ID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d-ID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d-ID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d-ID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d-ID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d-ID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204840" y="6321960"/>
            <a:ext cx="11764080" cy="36468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id-ID" sz="1800" b="0" strike="noStrike" spc="-1">
                <a:solidFill>
                  <a:srgbClr val="FFFFFF"/>
                </a:solidFill>
                <a:latin typeface="Calibri"/>
              </a:rPr>
              <a:t>Program Studi Sistem Informasi &amp; Teknik Informatika – STT Terpadu Nurul Fikri</a:t>
            </a:r>
            <a:endParaRPr lang="id-ID" sz="1800" b="0" strike="noStrike" spc="-1">
              <a:latin typeface="Arial"/>
            </a:endParaRPr>
          </a:p>
        </p:txBody>
      </p:sp>
      <p:sp>
        <p:nvSpPr>
          <p:cNvPr id="43" name="Line 2"/>
          <p:cNvSpPr/>
          <p:nvPr/>
        </p:nvSpPr>
        <p:spPr>
          <a:xfrm>
            <a:off x="838080" y="1193760"/>
            <a:ext cx="10515600" cy="0"/>
          </a:xfrm>
          <a:prstGeom prst="line">
            <a:avLst/>
          </a:prstGeom>
          <a:ln w="2556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4" name="Picture 9"/>
          <p:cNvPicPr/>
          <p:nvPr/>
        </p:nvPicPr>
        <p:blipFill>
          <a:blip r:embed="rId14"/>
          <a:stretch/>
        </p:blipFill>
        <p:spPr>
          <a:xfrm>
            <a:off x="10389240" y="106920"/>
            <a:ext cx="1111680" cy="1086480"/>
          </a:xfrm>
          <a:prstGeom prst="rect">
            <a:avLst/>
          </a:prstGeom>
          <a:ln>
            <a:noFill/>
          </a:ln>
        </p:spPr>
      </p:pic>
      <p:sp>
        <p:nvSpPr>
          <p:cNvPr id="45" name="PlaceHolder 3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90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id-ID" sz="4400" b="0" strike="noStrike" spc="-1">
                <a:solidFill>
                  <a:srgbClr val="5B9BD5"/>
                </a:solidFill>
                <a:latin typeface="Calibri Light"/>
              </a:rPr>
              <a:t>Click to edit Master title style</a:t>
            </a:r>
            <a:endParaRPr lang="id-ID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d-ID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d-ID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d-ID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d-ID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d-ID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d-ID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d-ID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d-ID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d-ID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d-ID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48" name="PlaceHolder 6"/>
          <p:cNvSpPr>
            <a:spLocks noGrp="1"/>
          </p:cNvSpPr>
          <p:nvPr>
            <p:ph type="dt"/>
          </p:nvPr>
        </p:nvSpPr>
        <p:spPr>
          <a:xfrm>
            <a:off x="381960" y="6356520"/>
            <a:ext cx="3198960" cy="36468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fld id="{BF0CB710-6DCB-4CAC-A995-E5E786888206}" type="datetime">
              <a:rPr lang="id-ID" sz="1800" b="0" strike="noStrike" spc="-1">
                <a:solidFill>
                  <a:srgbClr val="000000"/>
                </a:solidFill>
                <a:latin typeface="Calibri"/>
              </a:rPr>
              <a:t>23/09/2025</a:t>
            </a:fld>
            <a:endParaRPr lang="id-ID" sz="1800" b="0" strike="noStrike" spc="-1">
              <a:latin typeface="Times New Roman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ftr"/>
          </p:nvPr>
        </p:nvSpPr>
        <p:spPr>
          <a:xfrm>
            <a:off x="4038480" y="6356520"/>
            <a:ext cx="5814720" cy="36468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endParaRPr lang="id-ID" sz="2400" b="0" strike="noStrike" spc="-1">
              <a:latin typeface="Times New Roman"/>
            </a:endParaRPr>
          </a:p>
        </p:txBody>
      </p:sp>
      <p:sp>
        <p:nvSpPr>
          <p:cNvPr id="50" name="PlaceHolder 8"/>
          <p:cNvSpPr>
            <a:spLocks noGrp="1"/>
          </p:cNvSpPr>
          <p:nvPr>
            <p:ph type="sldNum"/>
          </p:nvPr>
        </p:nvSpPr>
        <p:spPr>
          <a:xfrm>
            <a:off x="10454040" y="6356520"/>
            <a:ext cx="15145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7F7734FE-1506-493C-AE3A-FC138727A883}" type="slidenum">
              <a:rPr lang="id-ID" sz="120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id-ID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lena.nurulfikri.ac.id/course/view.php?id=2158" TargetMode="Externa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Shape 1"/>
          <p:cNvSpPr txBox="1"/>
          <p:nvPr/>
        </p:nvSpPr>
        <p:spPr>
          <a:xfrm>
            <a:off x="1591920" y="2851920"/>
            <a:ext cx="9143640" cy="23871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800" strike="noStrike" spc="-1" dirty="0">
                <a:latin typeface="Arial Narrow" pitchFamily="34" charset="0"/>
                <a:cs typeface="Arial" pitchFamily="34" charset="0"/>
              </a:rPr>
              <a:t>Visualisasi Data</a:t>
            </a:r>
            <a:endParaRPr lang="id-ID" sz="4800" strike="noStrike" spc="-1" dirty="0">
              <a:latin typeface="Arial Narrow" pitchFamily="34" charset="0"/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endParaRPr lang="id-ID" sz="4800" strike="noStrike" spc="-1" dirty="0">
              <a:latin typeface="Arial Narrow" pitchFamily="34" charset="0"/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id-ID" sz="4000" spc="-1" dirty="0">
                <a:latin typeface="Arial Narrow" pitchFamily="34" charset="0"/>
                <a:cs typeface="Arial" pitchFamily="34" charset="0"/>
              </a:rPr>
              <a:t>Imam Haromain, S.Si., M.Kom.</a:t>
            </a:r>
            <a:endParaRPr lang="id-ID" sz="4000" strike="noStrike" spc="-1" dirty="0">
              <a:latin typeface="Arial Narrow" pitchFamily="34" charset="0"/>
              <a:cs typeface="Arial" pitchFamily="34" charset="0"/>
            </a:endParaRPr>
          </a:p>
        </p:txBody>
      </p:sp>
      <p:pic>
        <p:nvPicPr>
          <p:cNvPr id="221" name="Picture 6" descr="A blue circle with a person in a graduation cap&#10;&#10;Description automatically generated"/>
          <p:cNvPicPr/>
          <p:nvPr/>
        </p:nvPicPr>
        <p:blipFill>
          <a:blip r:embed="rId2"/>
          <a:stretch/>
        </p:blipFill>
        <p:spPr>
          <a:xfrm>
            <a:off x="5158080" y="886320"/>
            <a:ext cx="2011320" cy="1965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Shape 1"/>
          <p:cNvSpPr txBox="1"/>
          <p:nvPr/>
        </p:nvSpPr>
        <p:spPr>
          <a:xfrm>
            <a:off x="838080" y="365040"/>
            <a:ext cx="10515240" cy="6490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ID" sz="3600" spc="-1" dirty="0">
                <a:latin typeface="Arial Narrow" pitchFamily="34" charset="0"/>
                <a:cs typeface="Arial" pitchFamily="34" charset="0"/>
              </a:rPr>
              <a:t>Visualisasi Data</a:t>
            </a:r>
            <a:r>
              <a:rPr lang="id-ID" sz="3600" b="0" strike="noStrike" spc="-1" dirty="0">
                <a:latin typeface="Arial Narrow" pitchFamily="34" charset="0"/>
                <a:cs typeface="Arial" pitchFamily="34" charset="0"/>
              </a:rPr>
              <a:t>: </a:t>
            </a:r>
            <a:r>
              <a:rPr lang="en-ID" sz="3600" b="0" strike="noStrike" spc="-1" dirty="0">
                <a:latin typeface="Arial Narrow" pitchFamily="34" charset="0"/>
                <a:cs typeface="Arial" pitchFamily="34" charset="0"/>
              </a:rPr>
              <a:t>3</a:t>
            </a:r>
            <a:r>
              <a:rPr lang="id-ID" sz="3600" b="0" strike="noStrike" spc="-1" dirty="0">
                <a:latin typeface="Arial Narrow" pitchFamily="34" charset="0"/>
                <a:cs typeface="Arial" pitchFamily="34" charset="0"/>
              </a:rPr>
              <a:t> SKS</a:t>
            </a:r>
          </a:p>
        </p:txBody>
      </p:sp>
      <p:sp>
        <p:nvSpPr>
          <p:cNvPr id="223" name="CustomShape 2"/>
          <p:cNvSpPr/>
          <p:nvPr/>
        </p:nvSpPr>
        <p:spPr>
          <a:xfrm>
            <a:off x="695400" y="1227143"/>
            <a:ext cx="10657920" cy="304553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id-ID" sz="3200" spc="-1" noProof="0" dirty="0">
                <a:latin typeface="Arial Narrow" pitchFamily="34" charset="0"/>
              </a:rPr>
              <a:t>Mata kuliah ini memberikan konsep dasar, pengetahuan, dan kemampuan dalam visualisasi data. 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id-ID" sz="3200" spc="-1" noProof="0" dirty="0">
              <a:latin typeface="Arial Narrow" pitchFamily="34" charset="0"/>
            </a:endParaRP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id-ID" sz="3200" spc="-1" noProof="0" dirty="0">
                <a:latin typeface="Arial Narrow" pitchFamily="34" charset="0"/>
              </a:rPr>
              <a:t>Pembahasannya meliputi : konsep dalam visualisasi, mengenal dasar-dasar desain, mengetahui jenis dan metode dalam visualisasi data serta implementasi visualisasi data.</a:t>
            </a:r>
          </a:p>
        </p:txBody>
      </p:sp>
    </p:spTree>
    <p:extLst>
      <p:ext uri="{BB962C8B-B14F-4D97-AF65-F5344CB8AC3E}">
        <p14:creationId xmlns:p14="http://schemas.microsoft.com/office/powerpoint/2010/main" val="274657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BD02A-4549-AB37-3323-4ABD35ADA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Shape 1">
            <a:extLst>
              <a:ext uri="{FF2B5EF4-FFF2-40B4-BE49-F238E27FC236}">
                <a16:creationId xmlns:a16="http://schemas.microsoft.com/office/drawing/2014/main" id="{F1C4C283-CC53-CDCF-C5B2-D45C1DAE8E67}"/>
              </a:ext>
            </a:extLst>
          </p:cNvPr>
          <p:cNvSpPr txBox="1"/>
          <p:nvPr/>
        </p:nvSpPr>
        <p:spPr>
          <a:xfrm>
            <a:off x="838080" y="365040"/>
            <a:ext cx="10515240" cy="6490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ID" sz="3600" spc="-1" dirty="0">
                <a:latin typeface="Arial Narrow" pitchFamily="34" charset="0"/>
                <a:cs typeface="Arial" pitchFamily="34" charset="0"/>
              </a:rPr>
              <a:t>Visualisasi Data</a:t>
            </a:r>
            <a:r>
              <a:rPr lang="id-ID" sz="3600" b="0" strike="noStrike" spc="-1" dirty="0">
                <a:latin typeface="Arial Narrow" pitchFamily="34" charset="0"/>
                <a:cs typeface="Arial" pitchFamily="34" charset="0"/>
              </a:rPr>
              <a:t>: </a:t>
            </a:r>
            <a:r>
              <a:rPr lang="en-ID" sz="3600" b="0" strike="noStrike" spc="-1" dirty="0">
                <a:latin typeface="Arial Narrow" pitchFamily="34" charset="0"/>
                <a:cs typeface="Arial" pitchFamily="34" charset="0"/>
              </a:rPr>
              <a:t>3</a:t>
            </a:r>
            <a:r>
              <a:rPr lang="id-ID" sz="3600" b="0" strike="noStrike" spc="-1" dirty="0">
                <a:latin typeface="Arial Narrow" pitchFamily="34" charset="0"/>
                <a:cs typeface="Arial" pitchFamily="34" charset="0"/>
              </a:rPr>
              <a:t> SKS</a:t>
            </a:r>
          </a:p>
        </p:txBody>
      </p:sp>
      <p:sp>
        <p:nvSpPr>
          <p:cNvPr id="223" name="CustomShape 2">
            <a:extLst>
              <a:ext uri="{FF2B5EF4-FFF2-40B4-BE49-F238E27FC236}">
                <a16:creationId xmlns:a16="http://schemas.microsoft.com/office/drawing/2014/main" id="{C694497D-BBD8-727C-0BF7-598BD1F71DEB}"/>
              </a:ext>
            </a:extLst>
          </p:cNvPr>
          <p:cNvSpPr/>
          <p:nvPr/>
        </p:nvSpPr>
        <p:spPr>
          <a:xfrm>
            <a:off x="695400" y="1227143"/>
            <a:ext cx="10657920" cy="26762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D" sz="2400" spc="-1" dirty="0">
                <a:solidFill>
                  <a:srgbClr val="C00000"/>
                </a:solidFill>
                <a:latin typeface="Arial Narrow" pitchFamily="34" charset="0"/>
              </a:rPr>
              <a:t>Batas Kehadiran</a:t>
            </a:r>
            <a:r>
              <a:rPr lang="id-ID" sz="2400" spc="-1" dirty="0">
                <a:solidFill>
                  <a:srgbClr val="C00000"/>
                </a:solidFill>
                <a:latin typeface="Arial Narrow" pitchFamily="34" charset="0"/>
              </a:rPr>
              <a:t> :</a:t>
            </a:r>
            <a:endParaRPr lang="id-ID" sz="2400" spc="-1" dirty="0">
              <a:solidFill>
                <a:srgbClr val="000000"/>
              </a:solidFill>
              <a:latin typeface="Arial Narrow" pitchFamily="34" charset="0"/>
            </a:endParaRPr>
          </a:p>
          <a:p>
            <a:pPr>
              <a:lnSpc>
                <a:spcPct val="100000"/>
              </a:lnSpc>
            </a:pPr>
            <a:endParaRPr lang="en-ID" sz="2400" spc="-1" dirty="0">
              <a:solidFill>
                <a:srgbClr val="000000"/>
              </a:solidFill>
              <a:latin typeface="Arial Narrow" pitchFamily="34" charset="0"/>
            </a:endParaRPr>
          </a:p>
          <a:p>
            <a:pPr>
              <a:lnSpc>
                <a:spcPct val="100000"/>
              </a:lnSpc>
            </a:pPr>
            <a:r>
              <a:rPr lang="en-ID" sz="2400" spc="-1" dirty="0">
                <a:solidFill>
                  <a:srgbClr val="000000"/>
                </a:solidFill>
                <a:latin typeface="Arial Narrow" pitchFamily="34" charset="0"/>
              </a:rPr>
              <a:t>Kehadiran </a:t>
            </a:r>
            <a:r>
              <a:rPr lang="en-ID" sz="2400" spc="-1" dirty="0">
                <a:solidFill>
                  <a:srgbClr val="000000"/>
                </a:solidFill>
                <a:latin typeface="Arial Narrow" pitchFamily="34" charset="0"/>
                <a:sym typeface="Wingdings" panose="05000000000000000000" pitchFamily="2" charset="2"/>
              </a:rPr>
              <a:t> 14 Pertemuan (Maksimal 3 hari tidak hadir dengan alasan apapun (Sakit, Izin dan Alpa)). (Lebih dari 3 kali mempengaruhi nilai </a:t>
            </a:r>
            <a:r>
              <a:rPr lang="id-ID" sz="2400" spc="-1" noProof="0" dirty="0">
                <a:solidFill>
                  <a:srgbClr val="000000"/>
                </a:solidFill>
                <a:latin typeface="Arial Narrow" pitchFamily="34" charset="0"/>
                <a:sym typeface="Wingdings" panose="05000000000000000000" pitchFamily="2" charset="2"/>
              </a:rPr>
              <a:t>akhir perkuliahan dan lebih dari 6 kali akan </a:t>
            </a:r>
            <a:r>
              <a:rPr lang="en-ID" sz="2400" b="1" spc="-1" dirty="0">
                <a:solidFill>
                  <a:srgbClr val="FF0000"/>
                </a:solidFill>
                <a:latin typeface="Arial Narrow" pitchFamily="34" charset="0"/>
                <a:sym typeface="Wingdings" panose="05000000000000000000" pitchFamily="2" charset="2"/>
              </a:rPr>
              <a:t>TIDAK LULUS</a:t>
            </a:r>
            <a:r>
              <a:rPr lang="en-ID" sz="2400" spc="-1" dirty="0">
                <a:solidFill>
                  <a:srgbClr val="000000"/>
                </a:solidFill>
                <a:latin typeface="Arial Narrow" pitchFamily="34" charset="0"/>
                <a:sym typeface="Wingdings" panose="05000000000000000000" pitchFamily="2" charset="2"/>
              </a:rPr>
              <a:t>) </a:t>
            </a:r>
          </a:p>
          <a:p>
            <a:pPr>
              <a:lnSpc>
                <a:spcPct val="100000"/>
              </a:lnSpc>
            </a:pPr>
            <a:endParaRPr lang="en-ID" sz="2400" spc="-1" dirty="0">
              <a:solidFill>
                <a:srgbClr val="000000"/>
              </a:solidFill>
              <a:latin typeface="Arial Narrow" pitchFamily="34" charset="0"/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</a:pPr>
            <a:r>
              <a:rPr lang="id-ID" sz="2400" spc="-1" dirty="0">
                <a:solidFill>
                  <a:srgbClr val="C00000"/>
                </a:solidFill>
                <a:latin typeface="Arial Narrow" pitchFamily="34" charset="0"/>
              </a:rPr>
              <a:t>Penilaian :</a:t>
            </a:r>
            <a:endParaRPr lang="id-ID" sz="2400" spc="-1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2" name="CustomShape 3">
            <a:extLst>
              <a:ext uri="{FF2B5EF4-FFF2-40B4-BE49-F238E27FC236}">
                <a16:creationId xmlns:a16="http://schemas.microsoft.com/office/drawing/2014/main" id="{408268C0-CAC7-C3CD-BD16-FE10CC3C18CA}"/>
              </a:ext>
            </a:extLst>
          </p:cNvPr>
          <p:cNvSpPr/>
          <p:nvPr/>
        </p:nvSpPr>
        <p:spPr>
          <a:xfrm>
            <a:off x="4253129" y="3087680"/>
            <a:ext cx="2742840" cy="1155240"/>
          </a:xfrm>
          <a:prstGeom prst="rect">
            <a:avLst/>
          </a:prstGeom>
          <a:solidFill>
            <a:srgbClr val="A04DA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endParaRPr lang="id-ID" sz="1600" b="0" strike="noStrike" spc="-1" dirty="0">
              <a:latin typeface="Arial Narrow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ID" b="1" strike="noStrike" spc="-1" dirty="0">
                <a:solidFill>
                  <a:srgbClr val="FFFFFF"/>
                </a:solidFill>
                <a:latin typeface="Arial Narrow" pitchFamily="34" charset="0"/>
                <a:ea typeface="Droid Sans Fallback"/>
              </a:rPr>
              <a:t>Projek</a:t>
            </a:r>
            <a:r>
              <a:rPr lang="en-ID" b="1" spc="-1" dirty="0">
                <a:solidFill>
                  <a:srgbClr val="FFFFFF"/>
                </a:solidFill>
                <a:latin typeface="Arial Narrow" pitchFamily="34" charset="0"/>
                <a:ea typeface="Droid Sans Fallback"/>
              </a:rPr>
              <a:t> : 50</a:t>
            </a:r>
            <a:r>
              <a:rPr lang="id-ID" b="1" strike="noStrike" spc="-1" dirty="0">
                <a:solidFill>
                  <a:srgbClr val="FFFFFF"/>
                </a:solidFill>
                <a:latin typeface="Arial Narrow" pitchFamily="34" charset="0"/>
                <a:ea typeface="Droid Sans Fallback"/>
              </a:rPr>
              <a:t>%</a:t>
            </a:r>
            <a:r>
              <a:rPr lang="en-US" b="1" strike="noStrike" spc="-1" dirty="0">
                <a:solidFill>
                  <a:srgbClr val="FFFFFF"/>
                </a:solidFill>
                <a:latin typeface="Arial Narrow" pitchFamily="34" charset="0"/>
                <a:ea typeface="Droid Sans Fallback"/>
              </a:rPr>
              <a:t> (Kehadiran, tugas</a:t>
            </a:r>
            <a:r>
              <a:rPr lang="en-US" b="1" spc="-1" dirty="0">
                <a:solidFill>
                  <a:srgbClr val="FFFFFF"/>
                </a:solidFill>
                <a:latin typeface="Arial Narrow" pitchFamily="34" charset="0"/>
                <a:ea typeface="Droid Sans Fallback"/>
              </a:rPr>
              <a:t>/praktikum kelompok, tugas projek)</a:t>
            </a:r>
            <a:endParaRPr lang="id-ID" b="0" strike="noStrike" spc="-1" dirty="0">
              <a:latin typeface="Arial Narrow" pitchFamily="34" charset="0"/>
            </a:endParaRPr>
          </a:p>
          <a:p>
            <a:pPr algn="ctr">
              <a:lnSpc>
                <a:spcPct val="100000"/>
              </a:lnSpc>
            </a:pPr>
            <a:endParaRPr lang="id-ID" b="0" strike="noStrike" spc="-1" dirty="0">
              <a:latin typeface="Arial Narrow" pitchFamily="34" charset="0"/>
            </a:endParaRPr>
          </a:p>
        </p:txBody>
      </p:sp>
      <p:sp>
        <p:nvSpPr>
          <p:cNvPr id="3" name="CustomShape 4">
            <a:extLst>
              <a:ext uri="{FF2B5EF4-FFF2-40B4-BE49-F238E27FC236}">
                <a16:creationId xmlns:a16="http://schemas.microsoft.com/office/drawing/2014/main" id="{105B95B8-F817-B4F5-EA6F-F64C93E62D12}"/>
              </a:ext>
            </a:extLst>
          </p:cNvPr>
          <p:cNvSpPr/>
          <p:nvPr/>
        </p:nvSpPr>
        <p:spPr>
          <a:xfrm>
            <a:off x="7176120" y="3055657"/>
            <a:ext cx="2742840" cy="1155240"/>
          </a:xfrm>
          <a:prstGeom prst="rect">
            <a:avLst/>
          </a:prstGeom>
          <a:solidFill>
            <a:srgbClr val="427FA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endParaRPr lang="id-ID" sz="1800" b="0" strike="noStrike" spc="-1" dirty="0">
              <a:latin typeface="Arial Narrow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id-ID" sz="2000" b="1" strike="noStrike" spc="-1" dirty="0">
                <a:solidFill>
                  <a:srgbClr val="FFFFFF"/>
                </a:solidFill>
                <a:latin typeface="Arial Narrow" pitchFamily="34" charset="0"/>
                <a:ea typeface="Droid Sans Fallback"/>
              </a:rPr>
              <a:t>UTS : </a:t>
            </a:r>
            <a:r>
              <a:rPr lang="en-ID" sz="2000" b="1" spc="-1" dirty="0">
                <a:solidFill>
                  <a:srgbClr val="FFFFFF"/>
                </a:solidFill>
                <a:latin typeface="Arial Narrow" pitchFamily="34" charset="0"/>
                <a:ea typeface="Droid Sans Fallback"/>
              </a:rPr>
              <a:t>1</a:t>
            </a:r>
            <a:r>
              <a:rPr lang="en-US" sz="2000" b="1" strike="noStrike" spc="-1" dirty="0">
                <a:solidFill>
                  <a:srgbClr val="FFFFFF"/>
                </a:solidFill>
                <a:latin typeface="Arial Narrow" pitchFamily="34" charset="0"/>
                <a:ea typeface="Droid Sans Fallback"/>
              </a:rPr>
              <a:t>5</a:t>
            </a:r>
            <a:r>
              <a:rPr lang="id-ID" sz="2000" b="1" strike="noStrike" spc="-1" dirty="0">
                <a:solidFill>
                  <a:srgbClr val="FFFFFF"/>
                </a:solidFill>
                <a:latin typeface="Arial Narrow" pitchFamily="34" charset="0"/>
                <a:ea typeface="Droid Sans Fallback"/>
              </a:rPr>
              <a:t>%</a:t>
            </a:r>
            <a:endParaRPr lang="id-ID" sz="2000" b="0" strike="noStrike" spc="-1" dirty="0">
              <a:latin typeface="Arial Narrow" pitchFamily="34" charset="0"/>
            </a:endParaRPr>
          </a:p>
        </p:txBody>
      </p:sp>
      <p:sp>
        <p:nvSpPr>
          <p:cNvPr id="5" name="CustomShape 5">
            <a:extLst>
              <a:ext uri="{FF2B5EF4-FFF2-40B4-BE49-F238E27FC236}">
                <a16:creationId xmlns:a16="http://schemas.microsoft.com/office/drawing/2014/main" id="{4FE0F214-3725-80FD-069A-B4D7B972451C}"/>
              </a:ext>
            </a:extLst>
          </p:cNvPr>
          <p:cNvSpPr/>
          <p:nvPr/>
        </p:nvSpPr>
        <p:spPr>
          <a:xfrm>
            <a:off x="4250400" y="4466857"/>
            <a:ext cx="2742840" cy="1157040"/>
          </a:xfrm>
          <a:prstGeom prst="rect">
            <a:avLst/>
          </a:prstGeom>
          <a:solidFill>
            <a:srgbClr val="44B93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endParaRPr lang="id-ID" sz="1800" b="0" strike="noStrike" spc="-1" dirty="0">
              <a:latin typeface="Arial Narrow" pitchFamily="34" charset="0"/>
              <a:cs typeface="Arial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id-ID" sz="2000" b="1" strike="noStrike" spc="-1" dirty="0">
                <a:solidFill>
                  <a:srgbClr val="FFFFFF"/>
                </a:solidFill>
                <a:latin typeface="Arial Narrow" pitchFamily="34" charset="0"/>
                <a:ea typeface="Droid Sans Fallback"/>
                <a:cs typeface="Arial" pitchFamily="34" charset="0"/>
              </a:rPr>
              <a:t>Tugas</a:t>
            </a:r>
            <a:r>
              <a:rPr lang="en-US" sz="2000" b="1" strike="noStrike" spc="-1" dirty="0">
                <a:solidFill>
                  <a:srgbClr val="FFFFFF"/>
                </a:solidFill>
                <a:latin typeface="Arial Narrow" pitchFamily="34" charset="0"/>
                <a:ea typeface="Droid Sans Fallback"/>
                <a:cs typeface="Arial" pitchFamily="34" charset="0"/>
              </a:rPr>
              <a:t>/Quiz Individu</a:t>
            </a:r>
            <a:r>
              <a:rPr lang="en-ID" sz="2000" b="1" spc="-1" dirty="0">
                <a:solidFill>
                  <a:srgbClr val="FFFFFF"/>
                </a:solidFill>
                <a:latin typeface="Arial Narrow" pitchFamily="34" charset="0"/>
                <a:ea typeface="Droid Sans Fallback"/>
                <a:cs typeface="Arial" pitchFamily="34" charset="0"/>
              </a:rPr>
              <a:t> : 10</a:t>
            </a:r>
            <a:r>
              <a:rPr lang="id-ID" sz="2000" b="1" strike="noStrike" spc="-1" dirty="0">
                <a:solidFill>
                  <a:srgbClr val="FFFFFF"/>
                </a:solidFill>
                <a:latin typeface="Arial Narrow" pitchFamily="34" charset="0"/>
                <a:ea typeface="Droid Sans Fallback"/>
                <a:cs typeface="Arial" pitchFamily="34" charset="0"/>
              </a:rPr>
              <a:t>%</a:t>
            </a:r>
            <a:endParaRPr lang="id-ID" sz="2000" b="0" strike="noStrike" spc="-1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6" name="CustomShape 7">
            <a:extLst>
              <a:ext uri="{FF2B5EF4-FFF2-40B4-BE49-F238E27FC236}">
                <a16:creationId xmlns:a16="http://schemas.microsoft.com/office/drawing/2014/main" id="{9C7BF525-BF78-0545-00A3-B4C6FE096832}"/>
              </a:ext>
            </a:extLst>
          </p:cNvPr>
          <p:cNvSpPr/>
          <p:nvPr/>
        </p:nvSpPr>
        <p:spPr>
          <a:xfrm>
            <a:off x="7176120" y="4424017"/>
            <a:ext cx="2742840" cy="1199880"/>
          </a:xfrm>
          <a:prstGeom prst="rect">
            <a:avLst/>
          </a:prstGeom>
          <a:solidFill>
            <a:srgbClr val="FF950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endParaRPr lang="id-ID" sz="1800" b="0" strike="noStrike" spc="-1" dirty="0">
              <a:latin typeface="Arial Narrow" pitchFamily="34" charset="0"/>
              <a:cs typeface="Arial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id-ID" sz="2000" b="1" strike="noStrike" spc="-1" dirty="0">
                <a:solidFill>
                  <a:srgbClr val="FFFFFF"/>
                </a:solidFill>
                <a:latin typeface="Arial Narrow" pitchFamily="34" charset="0"/>
                <a:ea typeface="Droid Sans Fallback"/>
                <a:cs typeface="Arial" pitchFamily="34" charset="0"/>
              </a:rPr>
              <a:t>UAS : </a:t>
            </a:r>
            <a:r>
              <a:rPr lang="en-ID" sz="2000" b="1" spc="-1" dirty="0">
                <a:solidFill>
                  <a:srgbClr val="FFFFFF"/>
                </a:solidFill>
                <a:latin typeface="Arial Narrow" pitchFamily="34" charset="0"/>
                <a:ea typeface="Droid Sans Fallback"/>
                <a:cs typeface="Arial" pitchFamily="34" charset="0"/>
              </a:rPr>
              <a:t>15</a:t>
            </a:r>
            <a:r>
              <a:rPr lang="id-ID" sz="2000" b="1" strike="noStrike" spc="-1" dirty="0">
                <a:solidFill>
                  <a:srgbClr val="FFFFFF"/>
                </a:solidFill>
                <a:latin typeface="Arial Narrow" pitchFamily="34" charset="0"/>
                <a:ea typeface="Droid Sans Fallback"/>
                <a:cs typeface="Arial" pitchFamily="34" charset="0"/>
              </a:rPr>
              <a:t>%</a:t>
            </a:r>
            <a:endParaRPr lang="id-ID" sz="2000" b="0" strike="noStrike" spc="-1" dirty="0"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191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5AC22-B6E3-AC98-3268-6FFB641A1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Shape 1">
            <a:extLst>
              <a:ext uri="{FF2B5EF4-FFF2-40B4-BE49-F238E27FC236}">
                <a16:creationId xmlns:a16="http://schemas.microsoft.com/office/drawing/2014/main" id="{7C1FA920-DF6D-47AE-39E4-9308EF0F1272}"/>
              </a:ext>
            </a:extLst>
          </p:cNvPr>
          <p:cNvSpPr txBox="1"/>
          <p:nvPr/>
        </p:nvSpPr>
        <p:spPr>
          <a:xfrm>
            <a:off x="838080" y="365040"/>
            <a:ext cx="10515240" cy="6490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ID" sz="4400" spc="-1" dirty="0">
                <a:latin typeface="Arial Narrow" pitchFamily="34" charset="0"/>
                <a:cs typeface="Arial" pitchFamily="34" charset="0"/>
              </a:rPr>
              <a:t>Visualisasi Data</a:t>
            </a:r>
            <a:r>
              <a:rPr lang="id-ID" sz="4400" spc="-1" dirty="0">
                <a:latin typeface="Arial Narrow" pitchFamily="34" charset="0"/>
                <a:cs typeface="Arial" pitchFamily="34" charset="0"/>
              </a:rPr>
              <a:t>: </a:t>
            </a:r>
            <a:r>
              <a:rPr lang="en-ID" sz="4400" spc="-1" dirty="0">
                <a:latin typeface="Arial Narrow" pitchFamily="34" charset="0"/>
                <a:cs typeface="Arial" pitchFamily="34" charset="0"/>
              </a:rPr>
              <a:t>3</a:t>
            </a:r>
            <a:r>
              <a:rPr lang="id-ID" sz="4400" spc="-1" dirty="0">
                <a:latin typeface="Arial Narrow" pitchFamily="34" charset="0"/>
                <a:cs typeface="Arial" pitchFamily="34" charset="0"/>
              </a:rPr>
              <a:t> SKS</a:t>
            </a:r>
          </a:p>
        </p:txBody>
      </p:sp>
      <p:sp>
        <p:nvSpPr>
          <p:cNvPr id="227" name="CustomShape 6">
            <a:extLst>
              <a:ext uri="{FF2B5EF4-FFF2-40B4-BE49-F238E27FC236}">
                <a16:creationId xmlns:a16="http://schemas.microsoft.com/office/drawing/2014/main" id="{E278EB0A-4539-EE1E-F3EC-44945CF2A433}"/>
              </a:ext>
            </a:extLst>
          </p:cNvPr>
          <p:cNvSpPr/>
          <p:nvPr/>
        </p:nvSpPr>
        <p:spPr>
          <a:xfrm>
            <a:off x="3268080" y="2522880"/>
            <a:ext cx="3398400" cy="2037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3800" tIns="163800" rIns="163800" bIns="16380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id-ID" sz="2000" b="1" strike="noStrike" spc="-1">
                <a:solidFill>
                  <a:srgbClr val="FFFFFF"/>
                </a:solidFill>
                <a:latin typeface="Arial"/>
                <a:ea typeface="Droid Sans Fallback"/>
              </a:rPr>
              <a:t>    UAS: 30 %</a:t>
            </a:r>
            <a:endParaRPr lang="id-ID" sz="2000" b="0" strike="noStrike" spc="-1"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4F305-1EC1-22D5-6455-FD4B869F159D}"/>
              </a:ext>
            </a:extLst>
          </p:cNvPr>
          <p:cNvSpPr txBox="1"/>
          <p:nvPr/>
        </p:nvSpPr>
        <p:spPr>
          <a:xfrm>
            <a:off x="838080" y="1340768"/>
            <a:ext cx="105152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600" dirty="0">
                <a:latin typeface="Arial Narrow" panose="020B0606020202030204" pitchFamily="34" charset="0"/>
              </a:rPr>
              <a:t>Course Elena : </a:t>
            </a:r>
          </a:p>
          <a:p>
            <a:r>
              <a:rPr lang="en-ID" sz="3600" dirty="0">
                <a:latin typeface="Arial Narrow" panose="020B0606020202030204" pitchFamily="34" charset="0"/>
                <a:hlinkClick r:id="rId2"/>
              </a:rPr>
              <a:t>https://elena.nurulfikri.ac.id/course/view.php?id=2158</a:t>
            </a:r>
            <a:endParaRPr lang="en-ID" sz="3600" dirty="0">
              <a:latin typeface="Arial Narrow" panose="020B0606020202030204" pitchFamily="34" charset="0"/>
            </a:endParaRPr>
          </a:p>
          <a:p>
            <a:endParaRPr lang="en-ID" sz="3600" dirty="0">
              <a:latin typeface="Arial Narrow" panose="020B0606020202030204" pitchFamily="34" charset="0"/>
            </a:endParaRPr>
          </a:p>
          <a:p>
            <a:r>
              <a:rPr lang="en-ID" sz="3600" dirty="0">
                <a:latin typeface="Arial Narrow" panose="020B0606020202030204" pitchFamily="34" charset="0"/>
              </a:rPr>
              <a:t>Enroll password </a:t>
            </a:r>
            <a:r>
              <a:rPr lang="en-ID" sz="3600" dirty="0">
                <a:latin typeface="Arial Narrow" panose="020B0606020202030204" pitchFamily="34" charset="0"/>
                <a:sym typeface="Wingdings" panose="05000000000000000000" pitchFamily="2" charset="2"/>
              </a:rPr>
              <a:t> visdata_2025_1</a:t>
            </a:r>
            <a:endParaRPr lang="id-ID" sz="3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894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3405E-5540-394C-0AE3-BCA8A500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Shape 1">
            <a:extLst>
              <a:ext uri="{FF2B5EF4-FFF2-40B4-BE49-F238E27FC236}">
                <a16:creationId xmlns:a16="http://schemas.microsoft.com/office/drawing/2014/main" id="{37598E94-320A-D658-E5E5-5B71EA9C1F8D}"/>
              </a:ext>
            </a:extLst>
          </p:cNvPr>
          <p:cNvSpPr txBox="1"/>
          <p:nvPr/>
        </p:nvSpPr>
        <p:spPr>
          <a:xfrm>
            <a:off x="838080" y="365040"/>
            <a:ext cx="10515240" cy="6490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ID" sz="4400" spc="-1" dirty="0">
                <a:latin typeface="Arial Narrow" pitchFamily="34" charset="0"/>
                <a:cs typeface="Arial" pitchFamily="34" charset="0"/>
              </a:rPr>
              <a:t>Visualisasi Data</a:t>
            </a:r>
            <a:r>
              <a:rPr lang="id-ID" sz="4400" spc="-1" dirty="0">
                <a:latin typeface="Arial Narrow" pitchFamily="34" charset="0"/>
                <a:cs typeface="Arial" pitchFamily="34" charset="0"/>
              </a:rPr>
              <a:t>: </a:t>
            </a:r>
            <a:r>
              <a:rPr lang="en-ID" sz="4400" spc="-1" dirty="0">
                <a:latin typeface="Arial Narrow" pitchFamily="34" charset="0"/>
                <a:cs typeface="Arial" pitchFamily="34" charset="0"/>
              </a:rPr>
              <a:t>3</a:t>
            </a:r>
            <a:r>
              <a:rPr lang="id-ID" sz="4400" spc="-1" dirty="0">
                <a:latin typeface="Arial Narrow" pitchFamily="34" charset="0"/>
                <a:cs typeface="Arial" pitchFamily="34" charset="0"/>
              </a:rPr>
              <a:t> SKS</a:t>
            </a:r>
          </a:p>
        </p:txBody>
      </p:sp>
      <p:sp>
        <p:nvSpPr>
          <p:cNvPr id="227" name="CustomShape 6">
            <a:extLst>
              <a:ext uri="{FF2B5EF4-FFF2-40B4-BE49-F238E27FC236}">
                <a16:creationId xmlns:a16="http://schemas.microsoft.com/office/drawing/2014/main" id="{2D6FB56B-3321-2F9C-223F-D63B4DBC25BA}"/>
              </a:ext>
            </a:extLst>
          </p:cNvPr>
          <p:cNvSpPr/>
          <p:nvPr/>
        </p:nvSpPr>
        <p:spPr>
          <a:xfrm>
            <a:off x="3268080" y="2522880"/>
            <a:ext cx="3398400" cy="2037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3800" tIns="163800" rIns="163800" bIns="16380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id-ID" sz="2000" b="1" strike="noStrike" spc="-1">
                <a:solidFill>
                  <a:srgbClr val="FFFFFF"/>
                </a:solidFill>
                <a:latin typeface="Arial"/>
                <a:ea typeface="Droid Sans Fallback"/>
              </a:rPr>
              <a:t>    UAS: 30 %</a:t>
            </a:r>
            <a:endParaRPr lang="id-ID" sz="2000" b="0" strike="noStrike" spc="-1"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ECCC89-C181-90EF-0622-D0773BC50155}"/>
              </a:ext>
            </a:extLst>
          </p:cNvPr>
          <p:cNvSpPr txBox="1"/>
          <p:nvPr/>
        </p:nvSpPr>
        <p:spPr>
          <a:xfrm>
            <a:off x="838080" y="1340768"/>
            <a:ext cx="10515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600" dirty="0">
                <a:latin typeface="Arial Narrow" panose="020B0606020202030204" pitchFamily="34" charset="0"/>
              </a:rPr>
              <a:t>Telegram</a:t>
            </a:r>
            <a:endParaRPr lang="id-ID" sz="3600" dirty="0">
              <a:latin typeface="Arial Narrow" panose="020B06060202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F6C728-0463-A5BA-8059-BA7D053A3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680" y="1196752"/>
            <a:ext cx="5229200" cy="52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1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 txBox="1"/>
          <p:nvPr/>
        </p:nvSpPr>
        <p:spPr>
          <a:xfrm>
            <a:off x="838080" y="365040"/>
            <a:ext cx="10515240" cy="6490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id-ID" sz="4400" b="0" strike="noStrike" spc="-1" dirty="0">
                <a:latin typeface="Arial Narrow" pitchFamily="34" charset="0"/>
              </a:rPr>
              <a:t>Buku Referensi</a:t>
            </a:r>
          </a:p>
        </p:txBody>
      </p:sp>
      <p:sp>
        <p:nvSpPr>
          <p:cNvPr id="2" name="Rectangle 1"/>
          <p:cNvSpPr/>
          <p:nvPr/>
        </p:nvSpPr>
        <p:spPr>
          <a:xfrm>
            <a:off x="838080" y="1305342"/>
            <a:ext cx="1051524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id-ID" sz="2800" i="1" dirty="0">
                <a:latin typeface="Arial Narrow" pitchFamily="34" charset="0"/>
                <a:cs typeface="Arial" pitchFamily="34" charset="0"/>
              </a:rPr>
              <a:t>Storytelling with Data: A Data Visualization Guide for Business Professionals, Wiley</a:t>
            </a:r>
            <a:r>
              <a:rPr lang="en-US" sz="2800" i="1" dirty="0">
                <a:latin typeface="Arial Narrow" pitchFamily="34" charset="0"/>
                <a:cs typeface="Arial" pitchFamily="34" charset="0"/>
              </a:rPr>
              <a:t>.</a:t>
            </a:r>
            <a:endParaRPr lang="id-ID" sz="2800" i="1" dirty="0">
              <a:latin typeface="Arial Narrow" pitchFamily="34" charset="0"/>
              <a:cs typeface="Arial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id-ID" sz="2800" i="1" dirty="0">
                <a:latin typeface="Arial Narrow" pitchFamily="34" charset="0"/>
                <a:cs typeface="Arial" pitchFamily="34" charset="0"/>
              </a:rPr>
              <a:t>The truthful art data, chart and maps for communication, Alberto Cairo</a:t>
            </a:r>
            <a:r>
              <a:rPr lang="en-US" sz="2800" i="1" dirty="0">
                <a:latin typeface="Arial Narrow" pitchFamily="34" charset="0"/>
                <a:cs typeface="Arial" pitchFamily="34" charset="0"/>
              </a:rPr>
              <a:t>.</a:t>
            </a:r>
            <a:endParaRPr lang="id-ID" sz="2800" i="1" dirty="0">
              <a:latin typeface="Arial Narrow" pitchFamily="34" charset="0"/>
              <a:cs typeface="Arial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id-ID" sz="2800" i="1" dirty="0">
                <a:latin typeface="Arial Narrow" pitchFamily="34" charset="0"/>
                <a:cs typeface="Arial" pitchFamily="34" charset="0"/>
              </a:rPr>
              <a:t>Data Analysis and Visualization Using Python Analyze Data to Create Visualizations for BI Systems, Dr. Ossama Embarak</a:t>
            </a:r>
            <a:r>
              <a:rPr lang="en-US" sz="2800" i="1" dirty="0">
                <a:latin typeface="Arial Narrow" pitchFamily="34" charset="0"/>
                <a:cs typeface="Arial" pitchFamily="34" charset="0"/>
              </a:rPr>
              <a:t>.</a:t>
            </a:r>
            <a:endParaRPr lang="id-ID" sz="2800" i="1" dirty="0">
              <a:latin typeface="Arial Narrow" pitchFamily="34" charset="0"/>
              <a:cs typeface="Arial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id-ID" sz="2800" i="1" dirty="0">
                <a:latin typeface="Arial Narrow" pitchFamily="34" charset="0"/>
                <a:cs typeface="Arial" pitchFamily="34" charset="0"/>
              </a:rPr>
              <a:t>Data Visualization A Practical Introduction, Kieran Healy</a:t>
            </a:r>
            <a:r>
              <a:rPr lang="en-US" sz="2800" i="1" dirty="0">
                <a:latin typeface="Arial Narrow" pitchFamily="34" charset="0"/>
                <a:cs typeface="Arial" pitchFamily="34" charset="0"/>
              </a:rPr>
              <a:t>.</a:t>
            </a:r>
            <a:endParaRPr lang="id-ID" sz="2800" i="1" dirty="0">
              <a:latin typeface="Arial Narrow" pitchFamily="34" charset="0"/>
              <a:cs typeface="Arial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id-ID" sz="2400" i="1" dirty="0"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58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 txBox="1"/>
          <p:nvPr/>
        </p:nvSpPr>
        <p:spPr>
          <a:xfrm>
            <a:off x="838080" y="365040"/>
            <a:ext cx="10515240" cy="6490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id-ID" sz="4400" b="0" strike="noStrike" spc="-1" dirty="0">
                <a:latin typeface="Arial Narrow" pitchFamily="34" charset="0"/>
                <a:cs typeface="Arial" pitchFamily="34" charset="0"/>
              </a:rPr>
              <a:t>Materi</a:t>
            </a:r>
          </a:p>
        </p:txBody>
      </p:sp>
      <p:sp>
        <p:nvSpPr>
          <p:cNvPr id="2" name="Rectangle 1"/>
          <p:cNvSpPr/>
          <p:nvPr/>
        </p:nvSpPr>
        <p:spPr>
          <a:xfrm>
            <a:off x="838080" y="1412776"/>
            <a:ext cx="1051524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d-ID" sz="2000" dirty="0">
                <a:latin typeface="Arial Narrow" pitchFamily="34" charset="0"/>
                <a:cs typeface="Arial" pitchFamily="34" charset="0"/>
              </a:rPr>
              <a:t>Visualisasi data</a:t>
            </a:r>
          </a:p>
          <a:p>
            <a:pPr marL="342900" indent="-342900">
              <a:buFont typeface="+mj-lt"/>
              <a:buAutoNum type="arabicPeriod"/>
            </a:pPr>
            <a:r>
              <a:rPr lang="id-ID" sz="2000" dirty="0">
                <a:latin typeface="Arial Narrow" pitchFamily="34" charset="0"/>
                <a:cs typeface="Arial" pitchFamily="34" charset="0"/>
              </a:rPr>
              <a:t>Proses desain visualisasi</a:t>
            </a:r>
          </a:p>
          <a:p>
            <a:pPr marL="342900" indent="-342900">
              <a:buFont typeface="+mj-lt"/>
              <a:buAutoNum type="arabicPeriod"/>
            </a:pPr>
            <a:r>
              <a:rPr lang="id-ID" sz="2000" dirty="0">
                <a:latin typeface="Arial Narrow" pitchFamily="34" charset="0"/>
                <a:cs typeface="Arial" pitchFamily="34" charset="0"/>
              </a:rPr>
              <a:t>Seni visualisasi data</a:t>
            </a:r>
          </a:p>
          <a:p>
            <a:pPr marL="342900" indent="-342900">
              <a:buFont typeface="+mj-lt"/>
              <a:buAutoNum type="arabicPeriod"/>
            </a:pPr>
            <a:r>
              <a:rPr lang="id-ID" sz="2000" dirty="0">
                <a:latin typeface="Arial Narrow" pitchFamily="34" charset="0"/>
                <a:cs typeface="Arial" pitchFamily="34" charset="0"/>
              </a:rPr>
              <a:t>Prinsip desain</a:t>
            </a:r>
          </a:p>
          <a:p>
            <a:pPr marL="342900" indent="-342900">
              <a:buFont typeface="+mj-lt"/>
              <a:buAutoNum type="arabicPeriod"/>
            </a:pPr>
            <a:r>
              <a:rPr lang="id-ID" sz="2000" dirty="0">
                <a:latin typeface="Arial Narrow" pitchFamily="34" charset="0"/>
                <a:cs typeface="Arial" pitchFamily="34" charset="0"/>
              </a:rPr>
              <a:t>Bekerja dengan data </a:t>
            </a:r>
          </a:p>
          <a:p>
            <a:pPr marL="342900" indent="-342900">
              <a:buFont typeface="+mj-lt"/>
              <a:buAutoNum type="arabicPeriod"/>
            </a:pPr>
            <a:r>
              <a:rPr lang="id-ID" sz="2000" dirty="0">
                <a:latin typeface="Arial Narrow" pitchFamily="34" charset="0"/>
                <a:cs typeface="Arial" pitchFamily="34" charset="0"/>
              </a:rPr>
              <a:t>Python Data Wrangling </a:t>
            </a:r>
          </a:p>
          <a:p>
            <a:pPr marL="342900" indent="-342900">
              <a:buFont typeface="+mj-lt"/>
              <a:buAutoNum type="arabicPeriod"/>
            </a:pPr>
            <a:r>
              <a:rPr lang="id-ID" sz="2000" dirty="0">
                <a:latin typeface="Arial Narrow" pitchFamily="34" charset="0"/>
                <a:cs typeface="Arial" pitchFamily="34" charset="0"/>
              </a:rPr>
              <a:t>Charts in Colaboratory </a:t>
            </a:r>
          </a:p>
          <a:p>
            <a:pPr marL="342900" indent="-342900">
              <a:buFont typeface="+mj-lt"/>
              <a:buAutoNum type="arabicPeriod"/>
            </a:pPr>
            <a:r>
              <a:rPr lang="id-ID" sz="2000" dirty="0">
                <a:latin typeface="Arial Narrow" pitchFamily="34" charset="0"/>
                <a:cs typeface="Arial" pitchFamily="34" charset="0"/>
              </a:rPr>
              <a:t>Implementasi Line Chart </a:t>
            </a:r>
          </a:p>
          <a:p>
            <a:pPr marL="342900" indent="-342900">
              <a:buFont typeface="+mj-lt"/>
              <a:buAutoNum type="arabicPeriod"/>
            </a:pPr>
            <a:r>
              <a:rPr lang="id-ID" sz="2000" dirty="0">
                <a:latin typeface="Arial Narrow" pitchFamily="34" charset="0"/>
                <a:cs typeface="Arial" pitchFamily="34" charset="0"/>
              </a:rPr>
              <a:t>Implementasi Bar Chart </a:t>
            </a:r>
            <a:endParaRPr lang="en-US" sz="2000" dirty="0">
              <a:latin typeface="Arial Narrow" pitchFamily="34" charset="0"/>
              <a:cs typeface="Arial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d-ID" sz="2000" dirty="0">
                <a:latin typeface="Arial Narrow" pitchFamily="34" charset="0"/>
                <a:cs typeface="Arial" pitchFamily="34" charset="0"/>
              </a:rPr>
              <a:t>Implementasi Scatter Plot </a:t>
            </a:r>
          </a:p>
          <a:p>
            <a:pPr marL="342900" indent="-342900">
              <a:buFont typeface="+mj-lt"/>
              <a:buAutoNum type="arabicPeriod"/>
            </a:pPr>
            <a:r>
              <a:rPr lang="id-ID" sz="2000" dirty="0">
                <a:latin typeface="Arial Narrow" pitchFamily="34" charset="0"/>
                <a:cs typeface="Arial" pitchFamily="34" charset="0"/>
              </a:rPr>
              <a:t>Implementasi Stacked Vertical Bar Chart </a:t>
            </a:r>
          </a:p>
          <a:p>
            <a:pPr marL="342900" indent="-342900">
              <a:buFont typeface="+mj-lt"/>
              <a:buAutoNum type="arabicPeriod"/>
            </a:pPr>
            <a:r>
              <a:rPr lang="id-ID" sz="2000" dirty="0">
                <a:latin typeface="Arial Narrow" pitchFamily="34" charset="0"/>
                <a:cs typeface="Arial" pitchFamily="34" charset="0"/>
              </a:rPr>
              <a:t>Implementasi Horizontal Bar Chart</a:t>
            </a:r>
          </a:p>
          <a:p>
            <a:pPr marL="342900" indent="-342900">
              <a:buFont typeface="+mj-lt"/>
              <a:buAutoNum type="arabicPeriod"/>
            </a:pPr>
            <a:r>
              <a:rPr lang="id-ID" sz="2000" dirty="0">
                <a:latin typeface="Arial Narrow" pitchFamily="34" charset="0"/>
                <a:cs typeface="Arial" pitchFamily="34" charset="0"/>
              </a:rPr>
              <a:t>Stacked Bar Chart </a:t>
            </a:r>
          </a:p>
          <a:p>
            <a:pPr marL="342900" indent="-342900">
              <a:buFont typeface="+mj-lt"/>
              <a:buAutoNum type="arabicPeriod"/>
            </a:pPr>
            <a:r>
              <a:rPr lang="id-ID" sz="2000" dirty="0">
                <a:latin typeface="Arial Narrow" pitchFamily="34" charset="0"/>
                <a:cs typeface="Arial" pitchFamily="34" charset="0"/>
              </a:rPr>
              <a:t>Membuat dashboard visualisasi data</a:t>
            </a:r>
          </a:p>
        </p:txBody>
      </p:sp>
    </p:spTree>
    <p:extLst>
      <p:ext uri="{BB962C8B-B14F-4D97-AF65-F5344CB8AC3E}">
        <p14:creationId xmlns:p14="http://schemas.microsoft.com/office/powerpoint/2010/main" val="306615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 txBox="1"/>
          <p:nvPr/>
        </p:nvSpPr>
        <p:spPr>
          <a:xfrm>
            <a:off x="838080" y="365040"/>
            <a:ext cx="10515240" cy="6490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ID" sz="4400" b="0" i="1" strike="noStrike" spc="-1" dirty="0">
                <a:latin typeface="Arial Narrow" pitchFamily="34" charset="0"/>
                <a:cs typeface="Arial" pitchFamily="34" charset="0"/>
              </a:rPr>
              <a:t>Tools</a:t>
            </a:r>
            <a:endParaRPr lang="id-ID" sz="4400" b="0" i="1" strike="noStrike" spc="-1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080" y="1412776"/>
            <a:ext cx="105152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i="1" dirty="0">
                <a:latin typeface="Arial Narrow" pitchFamily="34" charset="0"/>
                <a:cs typeface="Arial" pitchFamily="34" charset="0"/>
              </a:rPr>
              <a:t>Python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i="1" dirty="0">
                <a:latin typeface="Arial Narrow" pitchFamily="34" charset="0"/>
                <a:cs typeface="Arial" pitchFamily="34" charset="0"/>
              </a:rPr>
              <a:t>Streamlit</a:t>
            </a:r>
            <a:endParaRPr lang="id-ID" sz="2800" i="1" dirty="0"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38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58DAA22-053A-534D-05DA-619C0789C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628800"/>
            <a:ext cx="8208912" cy="4459210"/>
          </a:xfrm>
          <a:prstGeom prst="rect">
            <a:avLst/>
          </a:prstGeom>
        </p:spPr>
      </p:pic>
      <p:sp>
        <p:nvSpPr>
          <p:cNvPr id="7" name="TextShape 1">
            <a:extLst>
              <a:ext uri="{FF2B5EF4-FFF2-40B4-BE49-F238E27FC236}">
                <a16:creationId xmlns:a16="http://schemas.microsoft.com/office/drawing/2014/main" id="{4BC332CE-AF08-7021-2981-D5DBCF50F9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88641"/>
            <a:ext cx="10972800" cy="79561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D" sz="4400" b="0" strike="noStrike" spc="-1" dirty="0">
                <a:latin typeface="Arial Narrow" pitchFamily="34" charset="0"/>
                <a:cs typeface="Arial" pitchFamily="34" charset="0"/>
              </a:rPr>
              <a:t>Nilai</a:t>
            </a:r>
            <a:endParaRPr lang="id-ID" sz="4400" b="0" strike="noStrike" spc="-1" dirty="0"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01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 txBox="1"/>
          <p:nvPr/>
        </p:nvSpPr>
        <p:spPr>
          <a:xfrm>
            <a:off x="838080" y="365040"/>
            <a:ext cx="10515240" cy="6490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id-ID" sz="4400" b="0" strike="noStrike" spc="-1" dirty="0">
                <a:latin typeface="Arial Narrow" pitchFamily="34" charset="0"/>
                <a:cs typeface="Arial" pitchFamily="34" charset="0"/>
              </a:rPr>
              <a:t>Pembagian Kelompok</a:t>
            </a:r>
          </a:p>
        </p:txBody>
      </p:sp>
      <p:sp>
        <p:nvSpPr>
          <p:cNvPr id="2" name="Rectangle 1"/>
          <p:cNvSpPr/>
          <p:nvPr/>
        </p:nvSpPr>
        <p:spPr>
          <a:xfrm>
            <a:off x="838080" y="1412776"/>
            <a:ext cx="53299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d-ID" sz="2400" dirty="0">
                <a:latin typeface="Arial Narrow" pitchFamily="34" charset="0"/>
                <a:cs typeface="Arial" pitchFamily="34" charset="0"/>
              </a:rPr>
              <a:t>Pembagian kelompok disini untuk</a:t>
            </a:r>
            <a:r>
              <a:rPr lang="en-US" sz="2400" dirty="0">
                <a:latin typeface="Arial Narrow" pitchFamily="34" charset="0"/>
                <a:cs typeface="Arial" pitchFamily="34" charset="0"/>
              </a:rPr>
              <a:t> </a:t>
            </a:r>
            <a:r>
              <a:rPr lang="id-ID" sz="2400" dirty="0">
                <a:latin typeface="Arial Narrow" pitchFamily="34" charset="0"/>
                <a:cs typeface="Arial" pitchFamily="34" charset="0"/>
              </a:rPr>
              <a:t>pengerjaan tugas </a:t>
            </a:r>
            <a:r>
              <a:rPr lang="en-US" sz="2400" dirty="0">
                <a:latin typeface="Arial Narrow" pitchFamily="34" charset="0"/>
                <a:cs typeface="Arial" pitchFamily="34" charset="0"/>
              </a:rPr>
              <a:t>kelompok, praktikum dan projek </a:t>
            </a:r>
            <a:r>
              <a:rPr lang="id-ID" sz="2400" dirty="0">
                <a:latin typeface="Arial Narrow" pitchFamily="34" charset="0"/>
                <a:cs typeface="Arial" pitchFamily="34" charset="0"/>
              </a:rPr>
              <a:t>dengan anggota </a:t>
            </a:r>
            <a:r>
              <a:rPr lang="en-ID" sz="2400" dirty="0">
                <a:latin typeface="Arial Narrow" pitchFamily="34" charset="0"/>
                <a:cs typeface="Arial" pitchFamily="34" charset="0"/>
              </a:rPr>
              <a:t>3</a:t>
            </a:r>
            <a:r>
              <a:rPr lang="id-ID" sz="2400" dirty="0">
                <a:latin typeface="Arial Narrow" pitchFamily="34" charset="0"/>
                <a:cs typeface="Arial" pitchFamily="34" charset="0"/>
              </a:rPr>
              <a:t> orang. Format laporan seperti format laporan tugas atau praktikum pada umumnya. Bagian depan adalah cover dilanjutkan</a:t>
            </a:r>
            <a:r>
              <a:rPr lang="en-US" sz="2400" dirty="0">
                <a:latin typeface="Arial Narrow" pitchFamily="34" charset="0"/>
                <a:cs typeface="Arial" pitchFamily="34" charset="0"/>
              </a:rPr>
              <a:t> </a:t>
            </a:r>
            <a:r>
              <a:rPr lang="id-ID" sz="2400" dirty="0">
                <a:latin typeface="Arial Narrow" pitchFamily="34" charset="0"/>
                <a:cs typeface="Arial" pitchFamily="34" charset="0"/>
              </a:rPr>
              <a:t>dengan soal beserta jawaban jika tugas ata</a:t>
            </a:r>
            <a:r>
              <a:rPr lang="en-US" sz="2400" dirty="0">
                <a:latin typeface="Arial Narrow" pitchFamily="34" charset="0"/>
                <a:cs typeface="Arial" pitchFamily="34" charset="0"/>
              </a:rPr>
              <a:t>u projek</a:t>
            </a:r>
            <a:r>
              <a:rPr lang="id-ID" sz="2400" dirty="0">
                <a:latin typeface="Arial Narrow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28FA6D-42E4-768F-27A2-906C1EC1F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020" y="1216382"/>
            <a:ext cx="468630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33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 txBox="1"/>
          <p:nvPr/>
        </p:nvSpPr>
        <p:spPr>
          <a:xfrm>
            <a:off x="838080" y="365040"/>
            <a:ext cx="10515240" cy="6490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ID" sz="4400" b="0" strike="noStrike" spc="-1" dirty="0">
                <a:latin typeface="Arial Narrow" pitchFamily="34" charset="0"/>
                <a:cs typeface="Arial" pitchFamily="34" charset="0"/>
              </a:rPr>
              <a:t>Tata Tertib Perkuliahan</a:t>
            </a:r>
            <a:endParaRPr lang="id-ID" sz="4400" b="0" strike="noStrike" spc="-1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080" y="1412776"/>
            <a:ext cx="1051524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id-ID" sz="2400" noProof="0" dirty="0">
                <a:latin typeface="Arial Narrow" pitchFamily="34" charset="0"/>
                <a:cs typeface="Arial" pitchFamily="34" charset="0"/>
              </a:rPr>
              <a:t>Mahasiswa yang berhak mengikuti perkuliahan adalah mahasiswa yang terdaftar di SISKA STTNF sesuai dengan tahun akademik berjalan.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d-ID" sz="2400" noProof="0" dirty="0">
                <a:latin typeface="Arial Narrow" pitchFamily="34" charset="0"/>
                <a:cs typeface="Arial" pitchFamily="34" charset="0"/>
              </a:rPr>
              <a:t>Mahasiswa harus memperhatikan jadwal acara perkuliahan (luring / daring sinkronus / asinkronous) yang telah ditentukan.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d-ID" sz="2400" noProof="0" dirty="0">
                <a:latin typeface="Arial Narrow" pitchFamily="34" charset="0"/>
                <a:cs typeface="Arial" pitchFamily="34" charset="0"/>
              </a:rPr>
              <a:t>Media komunikasi lain selain di dalam kelas dapat digunakan sesuai kesepakatan (contoh: group telegram).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d-ID" sz="2400" noProof="0" dirty="0">
                <a:latin typeface="Arial Narrow" pitchFamily="34" charset="0"/>
                <a:cs typeface="Arial" pitchFamily="34" charset="0"/>
              </a:rPr>
              <a:t>Mahasiswa wajib memperhatikan etika ketika akan menghubungi dosen / tim dosen.</a:t>
            </a:r>
            <a:endParaRPr lang="en-US" sz="2400" noProof="0" dirty="0"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25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2FF7A-BB45-E4D1-CFB8-DBCF9166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>
            <a:extLst>
              <a:ext uri="{FF2B5EF4-FFF2-40B4-BE49-F238E27FC236}">
                <a16:creationId xmlns:a16="http://schemas.microsoft.com/office/drawing/2014/main" id="{C8C32141-01D6-9355-D872-DD0BF3BBDDB2}"/>
              </a:ext>
            </a:extLst>
          </p:cNvPr>
          <p:cNvSpPr txBox="1"/>
          <p:nvPr/>
        </p:nvSpPr>
        <p:spPr>
          <a:xfrm>
            <a:off x="838080" y="365040"/>
            <a:ext cx="10515240" cy="6490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id-ID" sz="4400" b="0" strike="noStrike" spc="-1" dirty="0">
                <a:latin typeface="Arial Narrow" pitchFamily="34" charset="0"/>
                <a:cs typeface="Arial" pitchFamily="34" charset="0"/>
              </a:rPr>
              <a:t>Peraturan Kelas: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7FA602-BE95-A528-79E6-84F5F73E6666}"/>
              </a:ext>
            </a:extLst>
          </p:cNvPr>
          <p:cNvSpPr/>
          <p:nvPr/>
        </p:nvSpPr>
        <p:spPr>
          <a:xfrm>
            <a:off x="838080" y="1340768"/>
            <a:ext cx="1051524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 Narrow" panose="020B0606020202030204" pitchFamily="34" charset="0"/>
              </a:rPr>
              <a:t>Dilarang memainkan Gadget / Hp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 Narrow" panose="020B0606020202030204" pitchFamily="34" charset="0"/>
              </a:rPr>
              <a:t>Dilarang mengobrol / berisik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 Narrow" panose="020B0606020202030204" pitchFamily="34" charset="0"/>
              </a:rPr>
              <a:t>Dilarang membuka laptop saat materi perkuliahan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 Narrow" panose="020B0606020202030204" pitchFamily="34" charset="0"/>
              </a:rPr>
              <a:t>Fokus pada materi perkuliahan</a:t>
            </a:r>
          </a:p>
        </p:txBody>
      </p:sp>
      <p:pic>
        <p:nvPicPr>
          <p:cNvPr id="1026" name="Picture 2" descr="Kampus Ini Larang Siswanya Main Ponsel ...">
            <a:extLst>
              <a:ext uri="{FF2B5EF4-FFF2-40B4-BE49-F238E27FC236}">
                <a16:creationId xmlns:a16="http://schemas.microsoft.com/office/drawing/2014/main" id="{8874E1CF-525A-35B1-4CFE-6D7B97BFF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232" y="136528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ektor Stok Tanda Tolong Jangan Berisik ...">
            <a:extLst>
              <a:ext uri="{FF2B5EF4-FFF2-40B4-BE49-F238E27FC236}">
                <a16:creationId xmlns:a16="http://schemas.microsoft.com/office/drawing/2014/main" id="{F2A56735-BC9A-669B-8A22-6D7AA7576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1032" y="3429000"/>
            <a:ext cx="17907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57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oftware dan Layanan Untuk Mengecek Plagiat | Jani Master">
            <a:extLst>
              <a:ext uri="{FF2B5EF4-FFF2-40B4-BE49-F238E27FC236}">
                <a16:creationId xmlns:a16="http://schemas.microsoft.com/office/drawing/2014/main" id="{0737458E-A106-5064-CB26-BCD85B36C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1651698"/>
            <a:ext cx="1760587" cy="355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omunitasantiplagiat Instagram posts (photos and videos) - Picuki.com">
            <a:extLst>
              <a:ext uri="{FF2B5EF4-FFF2-40B4-BE49-F238E27FC236}">
                <a16:creationId xmlns:a16="http://schemas.microsoft.com/office/drawing/2014/main" id="{F7EA7508-157A-ADEC-9016-36C3A07AB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768" y="1673402"/>
            <a:ext cx="3735859" cy="3735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NTI MENYONTEK DAN ANTI PLAGIAT – Suara Terpendam (Wong Deso)">
            <a:extLst>
              <a:ext uri="{FF2B5EF4-FFF2-40B4-BE49-F238E27FC236}">
                <a16:creationId xmlns:a16="http://schemas.microsoft.com/office/drawing/2014/main" id="{8815060B-C2F2-9D0F-A896-DFFF3BB1B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627" y="1859371"/>
            <a:ext cx="3492248" cy="332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516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Terimakasih atau Terima Kasih, Manakah Penulisan yang Benar? -  Kompasiana.com">
            <a:extLst>
              <a:ext uri="{FF2B5EF4-FFF2-40B4-BE49-F238E27FC236}">
                <a16:creationId xmlns:a16="http://schemas.microsoft.com/office/drawing/2014/main" id="{5B5CA5B4-E8BC-4B87-2DCB-75AD0AFF5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2563171"/>
            <a:ext cx="1905000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PORTALSATU.com - Ucapan Terima Kasih dalam Berbagai Bahasa">
            <a:extLst>
              <a:ext uri="{FF2B5EF4-FFF2-40B4-BE49-F238E27FC236}">
                <a16:creationId xmlns:a16="http://schemas.microsoft.com/office/drawing/2014/main" id="{72CF249B-1F45-FF9A-D8C4-4241C2AB1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160" y="2744146"/>
            <a:ext cx="257175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Terima Kasih Terima Kasih Surat Terima Kasih, Terima Kasih, Tulisan, Terima  Kasih Clipart PNG Transparan Clipart dan File PSD untuk Unduh Gratis">
            <a:extLst>
              <a:ext uri="{FF2B5EF4-FFF2-40B4-BE49-F238E27FC236}">
                <a16:creationId xmlns:a16="http://schemas.microsoft.com/office/drawing/2014/main" id="{03DF9041-3D4C-C57D-36BF-7C52206E6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42" y="12858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062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1176</TotalTime>
  <Words>428</Words>
  <Application>Microsoft Office PowerPoint</Application>
  <PresentationFormat>Widescreen</PresentationFormat>
  <Paragraphs>71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Narrow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Nilai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rojulman</dc:creator>
  <cp:lastModifiedBy>IMAM HAROMAIN</cp:lastModifiedBy>
  <cp:revision>136</cp:revision>
  <dcterms:created xsi:type="dcterms:W3CDTF">2014-09-29T02:25:20Z</dcterms:created>
  <dcterms:modified xsi:type="dcterms:W3CDTF">2025-09-23T02:23:23Z</dcterms:modified>
  <dc:language>id-ID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24</vt:i4>
  </property>
</Properties>
</file>